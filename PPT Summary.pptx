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1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0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0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10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9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7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5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5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93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5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CC1F1-0FB4-4BA3-9457-B7BDF9A85F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4B88C-387D-455D-A5A8-10EDC8B9A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6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42250" y="907930"/>
            <a:ext cx="7278000" cy="452431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Arial Black" panose="020B0A04020102020204" pitchFamily="34" charset="0"/>
              </a:rPr>
              <a:t>Title:</a:t>
            </a:r>
          </a:p>
          <a:p>
            <a:pPr algn="ctr"/>
            <a:r>
              <a:rPr lang="en-US" sz="2800" dirty="0" smtClean="0"/>
              <a:t>Sales Analytics Dashboard – Superstore Dataset</a:t>
            </a:r>
          </a:p>
          <a:p>
            <a:pPr algn="ctr"/>
            <a:endParaRPr lang="en-US" sz="2800" dirty="0" smtClean="0"/>
          </a:p>
          <a:p>
            <a:pPr algn="ctr"/>
            <a:r>
              <a:rPr lang="en-US" sz="3600" b="1" dirty="0" smtClean="0">
                <a:latin typeface="Arial Black" panose="020B0A04020102020204" pitchFamily="34" charset="0"/>
              </a:rPr>
              <a:t>Subtitle:</a:t>
            </a:r>
          </a:p>
          <a:p>
            <a:pPr algn="ctr"/>
            <a:r>
              <a:rPr lang="en-US" sz="2800" dirty="0" smtClean="0"/>
              <a:t>Task 4 – Data Analyst Internship</a:t>
            </a:r>
          </a:p>
          <a:p>
            <a:pPr algn="ctr"/>
            <a:endParaRPr lang="en-US" dirty="0" smtClean="0"/>
          </a:p>
          <a:p>
            <a:pPr algn="ctr"/>
            <a:r>
              <a:rPr lang="en-US" sz="2400" b="1" dirty="0" smtClean="0"/>
              <a:t>By:</a:t>
            </a:r>
          </a:p>
          <a:p>
            <a:pPr algn="ctr"/>
            <a:r>
              <a:rPr lang="en-US" i="1" dirty="0" smtClean="0"/>
              <a:t>Tashefa </a:t>
            </a:r>
            <a:r>
              <a:rPr lang="en-US" i="1" dirty="0" err="1" smtClean="0"/>
              <a:t>Naeem</a:t>
            </a:r>
            <a:r>
              <a:rPr lang="en-US" i="1" dirty="0" smtClean="0"/>
              <a:t> Shaikh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>18 Nov 2025</a:t>
            </a:r>
          </a:p>
          <a:p>
            <a:pPr algn="ctr"/>
            <a:endParaRPr lang="en-US" i="1" dirty="0" smtClean="0"/>
          </a:p>
          <a:p>
            <a:pPr algn="ctr"/>
            <a:r>
              <a:rPr lang="en-US" dirty="0" smtClean="0"/>
              <a:t>Created using Power BI | Dataset: Superstore (</a:t>
            </a:r>
            <a:r>
              <a:rPr lang="en-US" dirty="0" err="1" smtClean="0"/>
              <a:t>Kaggle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2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074" y="440115"/>
            <a:ext cx="1105852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Arial Black" panose="020B0A04020102020204" pitchFamily="34" charset="0"/>
              </a:rPr>
              <a:t>Objective</a:t>
            </a:r>
          </a:p>
          <a:p>
            <a:r>
              <a:rPr lang="en-US" sz="2000" dirty="0" smtClean="0"/>
              <a:t>To design an interactive and insightful Power BI dashboard to help business stakeholders analyze: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Sales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Profitability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Product category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Time-based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Forecasting indicators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800" b="1" dirty="0" smtClean="0">
                <a:latin typeface="Arial Black" panose="020B0A04020102020204" pitchFamily="34" charset="0"/>
              </a:rPr>
              <a:t>Outcome: </a:t>
            </a:r>
          </a:p>
          <a:p>
            <a:r>
              <a:rPr lang="en-US" sz="2000" dirty="0" smtClean="0"/>
              <a:t>Learn how to create dashboards that inform business decisions.</a:t>
            </a:r>
          </a:p>
          <a:p>
            <a:endParaRPr lang="en-US" sz="2000" dirty="0" smtClean="0"/>
          </a:p>
          <a:p>
            <a:endParaRPr lang="en-US" sz="2400" b="1" dirty="0" smtClean="0"/>
          </a:p>
          <a:p>
            <a:r>
              <a:rPr lang="en-US" sz="2800" b="1" dirty="0" smtClean="0">
                <a:latin typeface="Arial Black" panose="020B0A04020102020204" pitchFamily="34" charset="0"/>
              </a:rPr>
              <a:t>Tools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Superstore Dataset (</a:t>
            </a:r>
            <a:r>
              <a:rPr lang="en-US" sz="2000" dirty="0" err="1" smtClean="0"/>
              <a:t>Kaggle</a:t>
            </a:r>
            <a:r>
              <a:rPr lang="en-US" sz="2000" dirty="0" smtClean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467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925" y="228600"/>
            <a:ext cx="8267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anose="020B0A04020102020204" pitchFamily="34" charset="0"/>
              </a:rPr>
              <a:t>PAGE 1: EXECUTIVE SUMMARY</a:t>
            </a:r>
          </a:p>
          <a:p>
            <a:pPr algn="ctr"/>
            <a:r>
              <a:rPr lang="en-US" sz="2000" dirty="0" smtClean="0"/>
              <a:t>High-level performance indicators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48" y="1265455"/>
            <a:ext cx="6580252" cy="53353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86576" y="1607462"/>
            <a:ext cx="53054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Key Elements:</a:t>
            </a:r>
          </a:p>
          <a:p>
            <a:r>
              <a:rPr lang="en-US" dirty="0" smtClean="0"/>
              <a:t>Total Sales</a:t>
            </a:r>
          </a:p>
          <a:p>
            <a:r>
              <a:rPr lang="en-US" dirty="0" smtClean="0"/>
              <a:t>Total Profit</a:t>
            </a:r>
          </a:p>
          <a:p>
            <a:r>
              <a:rPr lang="en-US" dirty="0" smtClean="0"/>
              <a:t>Profit Margin</a:t>
            </a:r>
          </a:p>
          <a:p>
            <a:r>
              <a:rPr lang="en-US" dirty="0" smtClean="0"/>
              <a:t>Total Orders</a:t>
            </a:r>
          </a:p>
          <a:p>
            <a:r>
              <a:rPr lang="en-US" dirty="0" smtClean="0"/>
              <a:t>Trend of Sales Over Time</a:t>
            </a:r>
          </a:p>
          <a:p>
            <a:r>
              <a:rPr lang="en-US" dirty="0" smtClean="0"/>
              <a:t>Category &amp; Regional analysis</a:t>
            </a:r>
          </a:p>
          <a:p>
            <a:r>
              <a:rPr lang="en-US" dirty="0" smtClean="0"/>
              <a:t>Slicers for interactivity</a:t>
            </a:r>
          </a:p>
          <a:p>
            <a:endParaRPr lang="en-US" dirty="0"/>
          </a:p>
          <a:p>
            <a:r>
              <a:rPr lang="en-US" b="1" dirty="0" smtClean="0"/>
              <a:t>Top Insights from Executive Summary</a:t>
            </a:r>
          </a:p>
          <a:p>
            <a:r>
              <a:rPr lang="en-US" b="1" dirty="0" smtClean="0"/>
              <a:t>Technology</a:t>
            </a:r>
            <a:r>
              <a:rPr lang="en-US" dirty="0" smtClean="0"/>
              <a:t> category generated the highest sales.</a:t>
            </a:r>
          </a:p>
          <a:p>
            <a:r>
              <a:rPr lang="en-US" b="1" dirty="0" smtClean="0"/>
              <a:t>West region</a:t>
            </a:r>
            <a:r>
              <a:rPr lang="en-US" dirty="0" smtClean="0"/>
              <a:t> showed the strongest performance in revenue.</a:t>
            </a:r>
          </a:p>
          <a:p>
            <a:r>
              <a:rPr lang="en-US" dirty="0" smtClean="0"/>
              <a:t>Overall </a:t>
            </a:r>
            <a:r>
              <a:rPr lang="en-US" b="1" dirty="0" smtClean="0"/>
              <a:t>profit margin</a:t>
            </a:r>
            <a:r>
              <a:rPr lang="en-US" dirty="0" smtClean="0"/>
              <a:t> is strong but varies by category.</a:t>
            </a:r>
          </a:p>
          <a:p>
            <a:r>
              <a:rPr lang="en-US" dirty="0" smtClean="0"/>
              <a:t>Sales show a growing trend in certain months (seasonality).</a:t>
            </a:r>
          </a:p>
          <a:p>
            <a:r>
              <a:rPr lang="en-US" dirty="0" smtClean="0"/>
              <a:t>Some segments contribute more revenue though having fewer orders.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2877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47825" y="209550"/>
            <a:ext cx="9391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anose="020B0A04020102020204" pitchFamily="34" charset="0"/>
              </a:rPr>
              <a:t>PAGE 2: PRODUCT PERFORMANCE</a:t>
            </a:r>
          </a:p>
          <a:p>
            <a:pPr algn="ctr"/>
            <a:r>
              <a:rPr lang="en-US" sz="2000" dirty="0" smtClean="0"/>
              <a:t>Detailed analysis of products &amp; categories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1" y="1277957"/>
            <a:ext cx="6799334" cy="53932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991350" y="1430357"/>
            <a:ext cx="512445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Key Elements:</a:t>
            </a:r>
          </a:p>
          <a:p>
            <a:r>
              <a:rPr lang="en-US" sz="1600" dirty="0" smtClean="0"/>
              <a:t>Top 10 products by Sales</a:t>
            </a:r>
          </a:p>
          <a:p>
            <a:r>
              <a:rPr lang="en-US" sz="1600" dirty="0" smtClean="0"/>
              <a:t>Top 10 products by Profit</a:t>
            </a:r>
          </a:p>
          <a:p>
            <a:r>
              <a:rPr lang="en-US" sz="1600" dirty="0" smtClean="0"/>
              <a:t>Sales by Sub-Category</a:t>
            </a:r>
          </a:p>
          <a:p>
            <a:r>
              <a:rPr lang="en-US" sz="1600" dirty="0" smtClean="0"/>
              <a:t>Discount </a:t>
            </a:r>
            <a:r>
              <a:rPr lang="en-US" sz="1600" dirty="0" err="1" smtClean="0"/>
              <a:t>vs</a:t>
            </a:r>
            <a:r>
              <a:rPr lang="en-US" sz="1600" dirty="0" smtClean="0"/>
              <a:t> Profit (Scatter Plot)</a:t>
            </a:r>
          </a:p>
          <a:p>
            <a:r>
              <a:rPr lang="en-US" sz="1600" dirty="0" smtClean="0"/>
              <a:t>Sales by Segment</a:t>
            </a:r>
          </a:p>
          <a:p>
            <a:r>
              <a:rPr lang="en-US" sz="1600" dirty="0" smtClean="0"/>
              <a:t>Profit by Ship Mode</a:t>
            </a:r>
          </a:p>
          <a:p>
            <a:r>
              <a:rPr lang="en-US" sz="1600" dirty="0" smtClean="0"/>
              <a:t>Slicers: Segment, Category, Sub-Category</a:t>
            </a:r>
          </a:p>
          <a:p>
            <a:endParaRPr lang="en-US" sz="1600" dirty="0"/>
          </a:p>
          <a:p>
            <a:r>
              <a:rPr lang="en-US" sz="1600" b="1" dirty="0" smtClean="0"/>
              <a:t>Key Insights from Product Performance</a:t>
            </a:r>
          </a:p>
          <a:p>
            <a:r>
              <a:rPr lang="en-US" sz="1600" dirty="0" smtClean="0"/>
              <a:t>Top 10 products contribute a large portion of sales revenue.</a:t>
            </a:r>
          </a:p>
          <a:p>
            <a:r>
              <a:rPr lang="en-US" sz="1600" dirty="0" smtClean="0"/>
              <a:t>Some products generate </a:t>
            </a:r>
            <a:r>
              <a:rPr lang="en-US" sz="1600" b="1" dirty="0" smtClean="0"/>
              <a:t>high sales but low profit</a:t>
            </a:r>
            <a:r>
              <a:rPr lang="en-US" sz="1600" dirty="0" smtClean="0"/>
              <a:t> due to discounting.</a:t>
            </a:r>
          </a:p>
          <a:p>
            <a:r>
              <a:rPr lang="en-US" sz="1600" b="1" dirty="0" smtClean="0"/>
              <a:t>Sub-Category: Phones, Chairs, Storage</a:t>
            </a:r>
            <a:r>
              <a:rPr lang="en-US" sz="1600" dirty="0" smtClean="0"/>
              <a:t> have highest sales.</a:t>
            </a:r>
          </a:p>
          <a:p>
            <a:r>
              <a:rPr lang="en-US" sz="1600" dirty="0" smtClean="0"/>
              <a:t>Scatter plot shows that </a:t>
            </a:r>
            <a:r>
              <a:rPr lang="en-US" sz="1600" b="1" dirty="0" smtClean="0"/>
              <a:t>higher discounts reduce profit</a:t>
            </a:r>
            <a:r>
              <a:rPr lang="en-US" sz="1600" dirty="0" smtClean="0"/>
              <a:t> significantly.</a:t>
            </a:r>
          </a:p>
          <a:p>
            <a:r>
              <a:rPr lang="en-US" sz="1600" b="1" dirty="0" smtClean="0"/>
              <a:t>Consumer segment</a:t>
            </a:r>
            <a:r>
              <a:rPr lang="en-US" sz="1600" dirty="0" smtClean="0"/>
              <a:t> dominates in both sales and order volume.</a:t>
            </a:r>
          </a:p>
          <a:p>
            <a:r>
              <a:rPr lang="en-US" sz="1600" b="1" dirty="0" smtClean="0"/>
              <a:t>Standard Class</a:t>
            </a:r>
            <a:r>
              <a:rPr lang="en-US" sz="1600" dirty="0" smtClean="0"/>
              <a:t> shipping mode is widely used and profitable.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31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0725" y="190500"/>
            <a:ext cx="8096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anose="020B0A04020102020204" pitchFamily="34" charset="0"/>
              </a:rPr>
              <a:t>PAGE 3: TIME &amp; FORECASTING</a:t>
            </a:r>
          </a:p>
          <a:p>
            <a:pPr algn="ctr"/>
            <a:r>
              <a:rPr lang="en-US" dirty="0" smtClean="0"/>
              <a:t>Trend analysis, YOY growth, moving averages</a:t>
            </a:r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8846"/>
            <a:ext cx="7448549" cy="52202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48549" y="1248846"/>
            <a:ext cx="474345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Key Elements:</a:t>
            </a:r>
          </a:p>
          <a:p>
            <a:r>
              <a:rPr lang="en-US" dirty="0" smtClean="0"/>
              <a:t>Monthly Sales Trend</a:t>
            </a:r>
          </a:p>
          <a:p>
            <a:r>
              <a:rPr lang="en-US" dirty="0" smtClean="0"/>
              <a:t>YOY Growth %</a:t>
            </a:r>
          </a:p>
          <a:p>
            <a:r>
              <a:rPr lang="en-US" dirty="0" smtClean="0"/>
              <a:t>Sales </a:t>
            </a:r>
            <a:r>
              <a:rPr lang="en-US" dirty="0" err="1" smtClean="0"/>
              <a:t>Heatmap</a:t>
            </a:r>
            <a:r>
              <a:rPr lang="en-US" dirty="0" smtClean="0"/>
              <a:t> (Year × Month)</a:t>
            </a:r>
          </a:p>
          <a:p>
            <a:r>
              <a:rPr lang="en-US" dirty="0" smtClean="0"/>
              <a:t>Profit Moving Average</a:t>
            </a:r>
          </a:p>
          <a:p>
            <a:r>
              <a:rPr lang="en-US" dirty="0" smtClean="0"/>
              <a:t>Forecasting Line (Power BI Analytics Pane)</a:t>
            </a:r>
          </a:p>
          <a:p>
            <a:r>
              <a:rPr lang="en-US" dirty="0" smtClean="0"/>
              <a:t>Slicers: Year, Quarter</a:t>
            </a:r>
          </a:p>
          <a:p>
            <a:endParaRPr lang="en-US" dirty="0" smtClean="0"/>
          </a:p>
          <a:p>
            <a:r>
              <a:rPr lang="en-US" b="1" dirty="0" smtClean="0"/>
              <a:t>Key Insights from Time &amp; Forecasting</a:t>
            </a:r>
          </a:p>
          <a:p>
            <a:r>
              <a:rPr lang="en-US" dirty="0" smtClean="0"/>
              <a:t>Monthly sales show clear </a:t>
            </a:r>
            <a:r>
              <a:rPr lang="en-US" b="1" dirty="0" smtClean="0"/>
              <a:t>seasonal patterns</a:t>
            </a:r>
            <a:r>
              <a:rPr lang="en-US" dirty="0" smtClean="0"/>
              <a:t> across years.</a:t>
            </a:r>
          </a:p>
          <a:p>
            <a:r>
              <a:rPr lang="en-US" dirty="0" smtClean="0"/>
              <a:t>YOY Growth indicates </a:t>
            </a:r>
            <a:r>
              <a:rPr lang="en-US" b="1" dirty="0" smtClean="0"/>
              <a:t>positive improvement in 2015 &amp; 2016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Heatmap</a:t>
            </a:r>
            <a:r>
              <a:rPr lang="en-US" dirty="0" smtClean="0"/>
              <a:t> highlights peak sales months like </a:t>
            </a:r>
            <a:r>
              <a:rPr lang="en-US" i="1" dirty="0" smtClean="0"/>
              <a:t>November &amp; December.</a:t>
            </a:r>
            <a:endParaRPr lang="en-US" dirty="0" smtClean="0"/>
          </a:p>
          <a:p>
            <a:r>
              <a:rPr lang="en-US" dirty="0" smtClean="0"/>
              <a:t>3-month moving average </a:t>
            </a:r>
            <a:r>
              <a:rPr lang="en-US" dirty="0" err="1" smtClean="0"/>
              <a:t>smooths</a:t>
            </a:r>
            <a:r>
              <a:rPr lang="en-US" dirty="0" smtClean="0"/>
              <a:t> fluctuations and shows stable upward trend.</a:t>
            </a:r>
          </a:p>
          <a:p>
            <a:r>
              <a:rPr lang="en-US" dirty="0" smtClean="0"/>
              <a:t>Forecast suggests continued growth based on historical patterns.</a:t>
            </a:r>
          </a:p>
        </p:txBody>
      </p:sp>
    </p:spTree>
    <p:extLst>
      <p:ext uri="{BB962C8B-B14F-4D97-AF65-F5344CB8AC3E}">
        <p14:creationId xmlns:p14="http://schemas.microsoft.com/office/powerpoint/2010/main" val="383522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5250" y="817007"/>
            <a:ext cx="1164907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Arial Black" panose="020B0A04020102020204" pitchFamily="34" charset="0"/>
              </a:rPr>
              <a:t>Summary</a:t>
            </a:r>
          </a:p>
          <a:p>
            <a:r>
              <a:rPr lang="en-US" sz="2800" dirty="0" smtClean="0"/>
              <a:t>This Power BI dashboard enables stakeholders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Monitor overall business 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Evaluate product-level profitability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Understand yearly &amp; monthly sales trends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Forecast future revenue patterns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Make informed decisions using interactive visuals</a:t>
            </a:r>
          </a:p>
          <a:p>
            <a:pPr algn="ctr"/>
            <a:endParaRPr lang="en-US" sz="2800" b="1" dirty="0" smtClean="0"/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Thank You!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34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405</Words>
  <Application>Microsoft Office PowerPoint</Application>
  <PresentationFormat>Widescreen</PresentationFormat>
  <Paragraphs>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</cp:revision>
  <dcterms:created xsi:type="dcterms:W3CDTF">2025-11-18T16:44:36Z</dcterms:created>
  <dcterms:modified xsi:type="dcterms:W3CDTF">2025-11-18T17:29:23Z</dcterms:modified>
</cp:coreProperties>
</file>